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b50a9e22524daf" /><Relationship Type="http://schemas.openxmlformats.org/officeDocument/2006/relationships/extended-properties" Target="/docProps/app.xml" Id="R4acdba450e8c402f" /><Relationship Type="http://schemas.openxmlformats.org/officeDocument/2006/relationships/officeDocument" Target="/ppt/presentation.xml" Id="R73fdde8b22a441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4c76b5b38643e8"/>
  </p:sldMasterIdLst>
  <p:notesMasterIdLst>
    <p:notesMasterId xmlns:r="http://schemas.openxmlformats.org/officeDocument/2006/relationships" r:id="R14e1349bf4b24401"/>
  </p:notesMasterIdLst>
  <p:sldIdLst>
    <p:sldId xmlns:r="http://schemas.openxmlformats.org/officeDocument/2006/relationships" id="256" r:id="R8bd2013e01df49ab"/>
    <p:sldId xmlns:r="http://schemas.openxmlformats.org/officeDocument/2006/relationships" id="257" r:id="Rd9457464421b4caf"/>
    <p:sldId xmlns:r="http://schemas.openxmlformats.org/officeDocument/2006/relationships" id="258" r:id="R160da5f26af74d7f"/>
    <p:sldId xmlns:r="http://schemas.openxmlformats.org/officeDocument/2006/relationships" id="259" r:id="R004eed6ca0ed43fa"/>
    <p:sldId xmlns:r="http://schemas.openxmlformats.org/officeDocument/2006/relationships" id="260" r:id="R228d426b98c84882"/>
    <p:sldId xmlns:r="http://schemas.openxmlformats.org/officeDocument/2006/relationships" id="261" r:id="Re821f2e6d70948da"/>
    <p:sldId xmlns:r="http://schemas.openxmlformats.org/officeDocument/2006/relationships" id="262" r:id="R31f107f0df864fd2"/>
    <p:sldId xmlns:r="http://schemas.openxmlformats.org/officeDocument/2006/relationships" id="263" r:id="R7020db1573d84768"/>
    <p:sldId xmlns:r="http://schemas.openxmlformats.org/officeDocument/2006/relationships" id="264" r:id="Rf65e582d54bc4c7f"/>
    <p:sldId xmlns:r="http://schemas.openxmlformats.org/officeDocument/2006/relationships" id="265" r:id="Rf2bf05689f0f44f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40716b453f44dc" /><Relationship Type="http://schemas.openxmlformats.org/officeDocument/2006/relationships/slideMaster" Target="/ppt/slideMasters/slideMaster1.xml" Id="R704c76b5b38643e8" /><Relationship Type="http://schemas.openxmlformats.org/officeDocument/2006/relationships/notesMaster" Target="/ppt/notesMasters/notesMaster1.xml" Id="R14e1349bf4b24401" /><Relationship Type="http://schemas.openxmlformats.org/officeDocument/2006/relationships/presProps" Target="/ppt/presProps.xml" Id="R4ea9b5de5d864327" /><Relationship Type="http://schemas.openxmlformats.org/officeDocument/2006/relationships/tableStyles" Target="/ppt/tableStyles.xml" Id="R82967f9069c942fd" /><Relationship Type="http://schemas.openxmlformats.org/officeDocument/2006/relationships/slide" Target="/ppt/slides/slide1.xml" Id="R8bd2013e01df49ab" /><Relationship Type="http://schemas.openxmlformats.org/officeDocument/2006/relationships/slide" Target="/ppt/slides/slide2.xml" Id="Rd9457464421b4caf" /><Relationship Type="http://schemas.openxmlformats.org/officeDocument/2006/relationships/slide" Target="/ppt/slides/slide3.xml" Id="R160da5f26af74d7f" /><Relationship Type="http://schemas.openxmlformats.org/officeDocument/2006/relationships/slide" Target="/ppt/slides/slide4.xml" Id="R004eed6ca0ed43fa" /><Relationship Type="http://schemas.openxmlformats.org/officeDocument/2006/relationships/slide" Target="/ppt/slides/slide5.xml" Id="R228d426b98c84882" /><Relationship Type="http://schemas.openxmlformats.org/officeDocument/2006/relationships/slide" Target="/ppt/slides/slide6.xml" Id="Re821f2e6d70948da" /><Relationship Type="http://schemas.openxmlformats.org/officeDocument/2006/relationships/slide" Target="/ppt/slides/slide7.xml" Id="R31f107f0df864fd2" /><Relationship Type="http://schemas.openxmlformats.org/officeDocument/2006/relationships/slide" Target="/ppt/slides/slide8.xml" Id="R7020db1573d84768" /><Relationship Type="http://schemas.openxmlformats.org/officeDocument/2006/relationships/slide" Target="/ppt/slides/slide9.xml" Id="Rf65e582d54bc4c7f" /><Relationship Type="http://schemas.openxmlformats.org/officeDocument/2006/relationships/slide" Target="/ppt/slides/slide10.xml" Id="Rf2bf05689f0f44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f24c01723442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f5018b017d4814" /><Relationship Type="http://schemas.openxmlformats.org/officeDocument/2006/relationships/notesMaster" Target="/ppt/notesMasters/notesMaster1.xml" Id="R9fafac4472f34f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3904f0f8b144b0" /><Relationship Type="http://schemas.openxmlformats.org/officeDocument/2006/relationships/notesMaster" Target="/ppt/notesMasters/notesMaster1.xml" Id="Rd62757286cd242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7222b99c1b4867" /><Relationship Type="http://schemas.openxmlformats.org/officeDocument/2006/relationships/notesMaster" Target="/ppt/notesMasters/notesMaster1.xml" Id="R750b387e555d47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ee11c8f723405e" /><Relationship Type="http://schemas.openxmlformats.org/officeDocument/2006/relationships/notesMaster" Target="/ppt/notesMasters/notesMaster1.xml" Id="R0943f55d5b6d46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970a021b55443a" /><Relationship Type="http://schemas.openxmlformats.org/officeDocument/2006/relationships/notesMaster" Target="/ppt/notesMasters/notesMaster1.xml" Id="R10f985b454534a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6adef8da1c480c" /><Relationship Type="http://schemas.openxmlformats.org/officeDocument/2006/relationships/notesMaster" Target="/ppt/notesMasters/notesMaster1.xml" Id="R60d0d2f6c14148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876360402d48fd" /><Relationship Type="http://schemas.openxmlformats.org/officeDocument/2006/relationships/notesMaster" Target="/ppt/notesMasters/notesMaster1.xml" Id="R0111f8957d7d4b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6d92585310453a" /><Relationship Type="http://schemas.openxmlformats.org/officeDocument/2006/relationships/notesMaster" Target="/ppt/notesMasters/notesMaster1.xml" Id="R1e0263e762254e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1da43afc1d43b6" /><Relationship Type="http://schemas.openxmlformats.org/officeDocument/2006/relationships/notesMaster" Target="/ppt/notesMasters/notesMaster1.xml" Id="R015dfdb62fab4a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a215afbee14464" /><Relationship Type="http://schemas.openxmlformats.org/officeDocument/2006/relationships/notesMaster" Target="/ppt/notesMasters/notesMaster1.xml" Id="Raa9f15e8e0164b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22771c57a347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ef07f8ca9c4e96" /><Relationship Type="http://schemas.openxmlformats.org/officeDocument/2006/relationships/slideLayout" Target="/ppt/slideLayouts/slideLayout1.xml" Id="R6202931ec29044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02931ec29044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9c7e196c04a8c" /><Relationship Type="http://schemas.openxmlformats.org/officeDocument/2006/relationships/notesSlide" Target="/ppt/notesSlides/notesSlide1.xml" Id="R8757ffb1d78340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66aab0dc04403" /><Relationship Type="http://schemas.openxmlformats.org/officeDocument/2006/relationships/notesSlide" Target="/ppt/notesSlides/notesSlide2.xml" Id="R82977585be3849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c15d29219414a" /><Relationship Type="http://schemas.openxmlformats.org/officeDocument/2006/relationships/notesSlide" Target="/ppt/notesSlides/notesSlide3.xml" Id="R1b2963f68c6743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4a342c2a548d7" /><Relationship Type="http://schemas.openxmlformats.org/officeDocument/2006/relationships/notesSlide" Target="/ppt/notesSlides/notesSlide4.xml" Id="R46674af1c43143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8c464f6fa40c4" /><Relationship Type="http://schemas.openxmlformats.org/officeDocument/2006/relationships/notesSlide" Target="/ppt/notesSlides/notesSlide5.xml" Id="R4f535aac91494f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fa1624c74442c" /><Relationship Type="http://schemas.openxmlformats.org/officeDocument/2006/relationships/image" Target="/ppt/media/image.jpeg" Id="Rd7b2968d88074c17" /><Relationship Type="http://schemas.openxmlformats.org/officeDocument/2006/relationships/notesSlide" Target="/ppt/notesSlides/notesSlide6.xml" Id="Rc52274436deb47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d8c98c4df4c29" /><Relationship Type="http://schemas.openxmlformats.org/officeDocument/2006/relationships/chart" Target="/ppt/slides/charts/chart1.xml" Id="R5b5b86ae054c4645" /><Relationship Type="http://schemas.openxmlformats.org/officeDocument/2006/relationships/notesSlide" Target="/ppt/notesSlides/notesSlide7.xml" Id="Ra3bcb3c40bbb4e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869d92a564b6f" /><Relationship Type="http://schemas.openxmlformats.org/officeDocument/2006/relationships/notesSlide" Target="/ppt/notesSlides/notesSlide8.xml" Id="R97db36f189f14a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ca6ca635e4fb8" /><Relationship Type="http://schemas.openxmlformats.org/officeDocument/2006/relationships/notesSlide" Target="/ppt/notesSlides/notesSlide9.xml" Id="R6b11fdbb65784b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f84a1e50c4772" /><Relationship Type="http://schemas.openxmlformats.org/officeDocument/2006/relationships/notesSlide" Target="/ppt/notesSlides/notesSlide10.xml" Id="R6eacb22f0a434646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Decisions / actions</c:v>
          </c:tx>
          <c:spPr>
            <a:solidFill xmlns:a="http://schemas.openxmlformats.org/drawingml/2006/main">
              <a:schemeClr val="accent1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Scanned</c:v>
              </c:pt>
              <c:pt idx="1">
                <c:v>Affected</c:v>
              </c:pt>
              <c:pt idx="2">
                <c:v>Changed</c:v>
              </c:pt>
              <c:pt idx="3">
                <c:v>Customer-facing</c:v>
              </c:pt>
              <c:pt idx="4">
                <c:v>Remediated</c:v>
              </c:pt>
            </c:strLit>
          </c:cat>
          <c:val>
            <c:numLit>
              <c:formatCode>General</c:formatCode>
              <c:ptCount val="5"/>
              <c:pt idx="0">
                <c:v>120</c:v>
              </c:pt>
              <c:pt idx="1">
                <c:v>64</c:v>
              </c:pt>
              <c:pt idx="2">
                <c:v>11</c:v>
              </c:pt>
              <c:pt idx="3">
                <c:v>7</c:v>
              </c:pt>
              <c:pt idx="4">
                <c:v>44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AA575A-BFFA-4626-86BB-B4AEC8F0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647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111"/>
                </a:solidFill>
              </a:defRPr>
            </a:pPr>
            <a:r>
              <a:rPr sz="5850" b="1">
                <a:solidFill>
                  <a:srgbClr val="111111"/>
                </a:solidFill>
              </a:rPr>
              <a:t>RecallOS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1652B-3629-4F3E-A559-A156523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847F"/>
                </a:solidFill>
              </a:defRPr>
            </a:pPr>
            <a:r>
              <a:rPr sz="2550" b="1">
                <a:solidFill>
                  <a:srgbClr val="08847F"/>
                </a:solidFill>
              </a:rPr>
              <a:t>Product Recall for AI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49E4B-65BB-4408-BE4F-53A01CA1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A Maestro Case prototype that finds, replays, remediates, verifies, and certifies historical AI decisions affected by faulty components.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FF004-A86F-4289-952B-AE9378AD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76300"/>
            <a:ext cx="3714750" cy="409575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ADEEF-1C0C-44C2-94D3-6A11AEA1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219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Track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5A297-5317-465D-BB0C-36A3B16C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811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UiPath Maestro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684AA-D19A-471B-B2C1-1C9D4963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847F"/>
          </a:solidFill>
          <a:ln xmlns:a="http://schemas.openxmlformats.org/drawingml/2006/main" w="0">
            <a:solidFill>
              <a:srgbClr val="0884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EAF26B-1A9D-43B3-9174-A2DF764B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71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Core artifact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C146F-7B3B-435C-B252-D2A02B44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1465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Decision Bill of Materials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16294-F2DE-46E6-8649-29F3F3F8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386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Demo case: APP-1042 / DEC-2026-00421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773AA-F8CB-44A0-9425-706A1BB1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43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519882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772687-A3D6-4CEF-A05F-41ECEAB5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847F"/>
                </a:solidFill>
              </a:defRPr>
            </a:pPr>
            <a:r>
              <a:rPr sz="1200" b="1">
                <a:solidFill>
                  <a:srgbClr val="08847F"/>
                </a:solidFill>
              </a:rPr>
              <a:t>RecallOS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664F7-FA0A-4DBA-B7BD-9E7336B1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Fixing the agent does not recall the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329B7-97D9-4C2A-A631-0B6895F3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UiPath AgentHack | Track 1: Maestro 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B19A0-AEDA-4A5E-AFF9-BEF0288A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When a policy, prompt, model, or data source is wrong, the business damage has already propagated.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1B9DB-6011-4A4B-BBD6-2548FA2B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49530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DA300-4534-46FA-9E8E-AAAE001B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CRM states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54E24D-171D-40EB-B380-EFA782DD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003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Closed customer records can stay closed.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DA941-AE3D-492F-9866-8FAD29A2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71750"/>
            <a:ext cx="49530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E8D2E5-B631-410E-B5EE-0F106DAB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Emails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52954-73A6-45C2-BFC8-561F9A9F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003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Rejected applicants may already have been notified.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16772-B022-45C7-8ACB-88F9A4C4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49530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590288-4200-447C-A974-0F640CB6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0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Tickets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74F78-34FA-4F27-9282-707E7E12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291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Support cases can be closed for the wrong reason.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5A4009-6991-4B88-8664-AC12C68F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00500"/>
            <a:ext cx="49530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B72285-E75D-41E9-8130-C154870D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10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Audit records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1F64F-1596-487B-8C60-19E7D4BF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291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Regulators need evidence of corrective action.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F91C65-CC9E-4B11-A6A5-AA11FF85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43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052424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2BB6E7-C354-41C2-B87F-C2CDC241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847F"/>
                </a:solidFill>
              </a:defRPr>
            </a:pPr>
            <a:r>
              <a:rPr sz="1200" b="1">
                <a:solidFill>
                  <a:srgbClr val="08847F"/>
                </a:solidFill>
              </a:rPr>
              <a:t>RecallOS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6A1E0-BF32-41F1-8F0E-03B1A9F9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Northstar SME Lending finds a faulty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F0B85-29FD-406B-A70F-2A54C992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UiPath AgentHack | Track 1: Maestro 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60B4E-EA7F-464A-B7A3-F446F7D3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3340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3EF"/>
          </a:solidFill>
          <a:ln xmlns:a="http://schemas.openxmlformats.org/drawingml/2006/main" w="9525">
            <a:solidFill>
              <a:srgbClr val="BE3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AAA84-7AD6-4C8E-8688-02260CB0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E3B35"/>
                </a:solidFill>
              </a:defRPr>
            </a:pPr>
            <a:r>
              <a:rPr sz="2250" b="1">
                <a:solidFill>
                  <a:srgbClr val="BE3B35"/>
                </a:solidFill>
              </a:rPr>
              <a:t>Faulty v7.1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BBEC8-F26D-4A52-82D9-AD9ADBA8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If monthly revenue &lt; EUR 5,000, reject automatically.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1F3C5-5435-4514-98D9-F6FE9C75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19250"/>
            <a:ext cx="53340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EF9F6"/>
          </a:solidFill>
          <a:ln xmlns:a="http://schemas.openxmlformats.org/drawingml/2006/main" w="9525">
            <a:solidFill>
              <a:srgbClr val="0884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0FAE7-4D17-4219-B962-A3142F4D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847F"/>
                </a:solidFill>
              </a:defRPr>
            </a:pPr>
            <a:r>
              <a:rPr sz="2250" b="1">
                <a:solidFill>
                  <a:srgbClr val="08847F"/>
                </a:solidFill>
              </a:rPr>
              <a:t>Corrected v7.2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4B10A-5A82-4293-9018-318F223A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Low revenue plus approved guarantee goes to manual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A379C-1F41-47B1-A763-FC5A33B6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123950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7D6973-6A20-4847-A981-39009DFD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APP-1042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68ABBA-86BF-4988-AC90-D8EC75D9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434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Revenue: EUR 4,200 | Guarantee: university_startup_fund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1027B0-E7C8-4C35-9480-8338F0D2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196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847F"/>
                </a:solidFill>
              </a:defRPr>
            </a:pPr>
            <a:r>
              <a:rPr sz="1950" b="1">
                <a:solidFill>
                  <a:srgbClr val="08847F"/>
                </a:solidFill>
              </a:rPr>
              <a:t>Original: rejected  -&gt;  Replay: manual_review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24C964-88E5-4A30-A2D5-D1D311D6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43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477407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56DA20-500B-4D4C-81E2-C30B61D8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847F"/>
                </a:solidFill>
              </a:defRPr>
            </a:pPr>
            <a:r>
              <a:rPr sz="1200" b="1">
                <a:solidFill>
                  <a:srgbClr val="08847F"/>
                </a:solidFill>
              </a:rPr>
              <a:t>RecallOS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F1533-8290-46C8-BAF9-CC77EE1B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Maestro is the recall control plane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C7C5F-0DCD-45DC-8DB8-EED33B7C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UiPath AgentHack | Track 1: Maestro 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737A9-379E-4C99-9B6B-55E2792C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3812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764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6D08A-AC4B-4FE2-B586-DEA38F80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Trigger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DF7D7-6F99-48A9-9240-2D22F171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Faulty component detected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8A2DE-D9E7-42BD-98E3-F7B61ED0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09750"/>
            <a:ext cx="23812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B1BD4-D834-4920-9F88-695C05DA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812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Blast radius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4584A-84C5-40FB-997B-036D2ECA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622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64 historical decisions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AD96F-CBD7-4902-B99D-78BC2E22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23812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20EFE-DD98-4390-9553-36EE330F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812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DBOM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5570BE-8F9A-4C90-B9F1-17A616CC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622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Evidence per 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C9E7B1-D4F9-4C4D-A025-36A82175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09750"/>
            <a:ext cx="23812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A2E1C4-8622-49BA-9F8E-A23FDFBE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812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Replay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FFF249-D2BD-4BDE-928E-4057A307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622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Corrected deterministic 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235DFE-9E9F-442D-9CE4-96942109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23812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5ADD21-1BBF-49F3-8F0A-ACE5AD55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Human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B5BF51-F4C3-43C7-B74D-EA988D18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Scope and plan approval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32EFD1-E542-4A0F-BA37-51DE54B6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0"/>
            <a:ext cx="23812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25A617-1D7C-4D3B-B3C1-D79C396A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909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Remediate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AB013C-805B-455D-B613-F6A428EF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719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API workflows and robot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0A734E-7D15-47EE-A56C-E2FEFB59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19500"/>
            <a:ext cx="23812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06C196-5853-450C-BED6-073244C2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909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Verify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F594D7-6B13-4812-8B59-7D90EEB1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719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Test Cloud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CF9F44-BB6C-446E-99B1-1759D9C9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19500"/>
            <a:ext cx="23812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6B6954-88FA-4378-8515-25E4E108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909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Certificate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4D333C-55F0-4347-8484-4F4C4835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719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Audit-ready closure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2A3D06-1FFE-4004-A25B-001CEFFF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86125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E4B211-6708-44C2-85EA-04EC425E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847F"/>
                </a:solidFill>
              </a:defRPr>
            </a:pPr>
            <a:r>
              <a:rPr sz="1800" b="1">
                <a:solidFill>
                  <a:srgbClr val="08847F"/>
                </a:solidFill>
              </a:rPr>
              <a:t>Coded Agents + Agent Builder + API Workflows + RPA Robot + Test Cloud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75DFBB-EA0B-41E6-8468-AD798687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43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015018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CBE0B4-63E7-4C68-9AA7-DC55D43C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847F"/>
                </a:solidFill>
              </a:defRPr>
            </a:pPr>
            <a:r>
              <a:rPr sz="1200" b="1">
                <a:solidFill>
                  <a:srgbClr val="08847F"/>
                </a:solidFill>
              </a:rPr>
              <a:t>RecallOS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69E2E-1FD1-45C7-9F63-8140B5F0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DBOM makes every recalled decision inspectable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1CCDF-4CF4-4EBF-BB9B-F33D571B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UiPath AgentHack | Track 1: Maestro 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45808-55A4-452A-A988-2290BFB4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DEC-2026-00421 evidence chain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DBFFA-26FE-4A5D-AB2C-C0BD5FCA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905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64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11DFD-0481-4243-85BE-10E21199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64D9"/>
                </a:solidFill>
              </a:defRPr>
            </a:pPr>
            <a:r>
              <a:rPr sz="1800" b="1">
                <a:solidFill>
                  <a:srgbClr val="2764D9"/>
                </a:solidFill>
              </a:rPr>
              <a:t>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6BF61-A92F-46E8-B920-A1068F1F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loan agent v2.3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DC39B-350E-4EBF-B834-C3246FF8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527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361C52-8BB5-4564-9405-8CDBB68E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81250"/>
            <a:ext cx="1905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4A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E9454-C8C9-45F9-9CFD-0C91D746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09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B4ACB"/>
                </a:solidFill>
              </a:defRPr>
            </a:pPr>
            <a:r>
              <a:rPr sz="1800" b="1">
                <a:solidFill>
                  <a:srgbClr val="6B4ACB"/>
                </a:solidFill>
              </a:rPr>
              <a:t>Prompt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F3474-025B-4E98-9390-24D5605B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09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prompt 2026-05-19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BABF1-117C-44BF-971D-0F163E17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527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088833-D747-46DF-91B6-C48918D8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1905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3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F28BC4-7DC5-49B6-BFC7-A187E004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09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E3B35"/>
                </a:solidFill>
              </a:defRPr>
            </a:pPr>
            <a:r>
              <a:rPr sz="1800" b="1">
                <a:solidFill>
                  <a:srgbClr val="BE3B35"/>
                </a:solidFill>
              </a:rPr>
              <a:t>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7DCA0B-73FB-417E-818E-F6AF386A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9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credit-policy-v7.1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8E890E-6E90-4F20-8D1C-24F4835B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FD1DE3-EFD0-427B-BAAF-4918A351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81250"/>
            <a:ext cx="1905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847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90D40F-86E1-461B-A4BF-4F7626AC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09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847F"/>
                </a:solidFill>
              </a:defRPr>
            </a:pPr>
            <a:r>
              <a:rPr sz="1800" b="1">
                <a:solidFill>
                  <a:srgbClr val="08847F"/>
                </a:solidFill>
              </a:rPr>
              <a:t>Inputs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ADF3DD-40C9-4232-9E86-B2C1B344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09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Revenue + guarantee + 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E589C1-20A2-46CF-BC92-B6E81A89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527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1B1D8D-6A22-4C3E-BC13-7F0AAAA3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81250"/>
            <a:ext cx="1905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7A4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C409A2-C70D-4FCB-9A36-E01324EC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09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7A43"/>
                </a:solidFill>
              </a:defRPr>
            </a:pPr>
            <a:r>
              <a:rPr sz="1800" b="1">
                <a:solidFill>
                  <a:srgbClr val="147A43"/>
                </a:solidFill>
              </a:rPr>
              <a:t>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AFD4CB-B10C-46B3-AA20-98580372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09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rejected -&gt; manual_review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BDAA73-30BE-4159-ADC0-554B0475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95800"/>
            <a:ext cx="100965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B8A0B8-DB30-4A67-8BEB-FA340177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815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The recall does not stop at AI trace. It links policy, prompt, model, inputs, retrieved evidence, tool calls, CRM, tickets, email, legacy portal, and audit events.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091611-79CF-4B59-A88A-B830B4B3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43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180834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73F1E6-04E8-463C-891D-8F7BAF59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847F"/>
                </a:solidFill>
              </a:defRPr>
            </a:pPr>
            <a:r>
              <a:rPr sz="1200" b="1">
                <a:solidFill>
                  <a:srgbClr val="08847F"/>
                </a:solidFill>
              </a:rPr>
              <a:t>RecallOS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7F18F-B292-49A1-8854-7A524A51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Running prototype: Recall Control Tower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85A23-4872-4590-A1A2-D2630967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UiPath AgentHack | Track 1: Maestro Case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2968d88074c17"/>
          <a:srcRect xmlns:a="http://schemas.openxmlformats.org/drawingml/2006/main" l="260" t="0" r="2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562100"/>
            <a:ext cx="7239000" cy="4095750"/>
          </a:xfrm>
          <a:prstGeom xmlns:a="http://schemas.openxmlformats.org/drawingml/2006/main" prst="roundRect">
            <a:avLst>
              <a:gd name="adj" fmla="val 139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361B19-F3D1-45C2-B1C8-E34F79F3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23812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514F9-0432-4620-89F4-C007B5CF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431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764D9"/>
                </a:solidFill>
              </a:defRPr>
            </a:pPr>
            <a:r>
              <a:rPr sz="3900" b="1">
                <a:solidFill>
                  <a:srgbClr val="2764D9"/>
                </a:solidFill>
              </a:rPr>
              <a:t>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B8B6C9-8756-43B4-9CC9-C962D49C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decisions scanned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2649C-3450-4B8B-AB5F-635AC8F5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05200"/>
            <a:ext cx="23812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79F47-3FD7-4E20-9625-EE59CA07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719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8847F"/>
                </a:solidFill>
              </a:defRPr>
            </a:pPr>
            <a:r>
              <a:rPr sz="3900" b="1">
                <a:solidFill>
                  <a:srgbClr val="08847F"/>
                </a:solidFill>
              </a:rPr>
              <a:t>64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136030-FBA2-4B20-B912-1A67B7E4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affected by faulty 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68195B-49BC-44BE-9F23-FAD0EA3B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29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No console errors during browser verification.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C38D1-4E83-43CF-8E05-9BFB9521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43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925460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826C15-0B15-412E-99F3-3B2533BA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847F"/>
                </a:solidFill>
              </a:defRPr>
            </a:pPr>
            <a:r>
              <a:rPr sz="1200" b="1">
                <a:solidFill>
                  <a:srgbClr val="08847F"/>
                </a:solidFill>
              </a:rPr>
              <a:t>RecallOS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3C1F3-9DE8-4A3B-9B25-0E0092AC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Recall narrows the incident to 7 immediate reopens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7CDC9-982C-4A9D-8831-2A31B1B4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UiPath AgentHack | Track 1: Maestro Case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1695450"/>
          <a:ext xmlns:a="http://schemas.openxmlformats.org/drawingml/2006/main" cx="6953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5b86ae054c464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25F7B-D27E-4BBC-9113-41C3DF0E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2857500" cy="2667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5C4AD-F0EF-48D0-8CC7-108612D1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526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Stable demo oracle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2F07C-93DA-4102-AB4D-5F7B26CD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238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exact counts are generated from deterministic seed data and verified by automated tests.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8D82A-D982-49EF-8F24-5A5BA25F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43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13990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B86B1F-E05D-46D0-BE8B-E69FBA3D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847F"/>
                </a:solidFill>
              </a:defRPr>
            </a:pPr>
            <a:r>
              <a:rPr sz="1200" b="1">
                <a:solidFill>
                  <a:srgbClr val="08847F"/>
                </a:solidFill>
              </a:rPr>
              <a:t>RecallOS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A2A31-F54C-4E3C-9D92-8F69E394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UiPath usage is broad, but each component has a job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5D99F-52E2-48A6-9872-DE2DA656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UiPath AgentHack | Track 1: Maestro 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CF59D-0A85-4807-8753-C99A9F0A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2571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701E4-720D-420B-A08A-956BC6A1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859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847F"/>
                </a:solidFill>
              </a:defRPr>
            </a:pPr>
            <a:r>
              <a:rPr sz="1575" b="1">
                <a:solidFill>
                  <a:srgbClr val="08847F"/>
                </a:solidFill>
              </a:rPr>
              <a:t>Maestro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485A4-B648-4B84-A8B2-7B5FEBCC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62100"/>
            <a:ext cx="80010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63301-3837-4DEA-B49D-1CE6060D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6859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State, stages, rework, SLA, final closure guard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6A2F2-B9EF-4F6E-A4E7-3E89C44D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2571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5B965-71CE-4686-AF39-9414EC20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717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Coded Agents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9E3CA-D8DB-40D2-98A5-2F46E4FD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47900"/>
            <a:ext cx="80010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BF4651-0F75-4D80-9826-9F02243E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717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Blast radius, DBOM, replay, remediation 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6D807-BB9F-47AA-95CB-60CBC0A4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33700"/>
            <a:ext cx="2571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6F953-D557-4D80-804D-17DA79E2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575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Agent Builder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D7451E-B15A-427C-BC2B-DAC44105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33700"/>
            <a:ext cx="80010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238D69-786A-4CCE-80A7-2B02D2EC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575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Intake, impact, customer draft, audit narrative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53F1EE-91B0-493D-B905-D1DB1AD7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0"/>
            <a:ext cx="2571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1A4BBD-192E-444B-A442-B231B7A9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433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API Workflows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CEA787-F478-46C5-94D8-568BDF05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9500"/>
            <a:ext cx="80010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206AEB-859F-48ED-9B77-E28A81C4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433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LoanCore, CRM, Ticket, EmailDraft, AuditRegister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C167A5-E556-438C-B6EF-5C131D2E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2571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2E89BD-1A95-46A8-B793-40AF2083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29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RPA Robot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FB1564-A207-41BC-A6C2-FEC558E9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05300"/>
            <a:ext cx="80010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7360FB-9F42-4EC2-8165-2EB18A7C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291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Legacy portal compliance register update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DF996E-42A0-4500-8645-4DC5ACCA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91100"/>
            <a:ext cx="2571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7364BB-9162-4252-BD88-1A7E6586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149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Test Cloud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B3391F-FD13-4444-A39D-7E8A3165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91100"/>
            <a:ext cx="80010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F1FFED-85B8-4816-8593-34C6354F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149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Verification gate before case closure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F2B3E8-CF3D-4EE7-AF3F-58921046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43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604693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35B044-43B3-4974-9ED0-E576A5DD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847F"/>
                </a:solidFill>
              </a:defRPr>
            </a:pPr>
            <a:r>
              <a:rPr sz="1200" b="1">
                <a:solidFill>
                  <a:srgbClr val="08847F"/>
                </a:solidFill>
              </a:rPr>
              <a:t>RecallOS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F29E4-4989-4D84-A3E2-31528002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Verification failure re-enters the case instead of closing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C6693-F0EE-47D9-98A1-BDD77B8A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UiPath AgentHack | Track 1: Maestro 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0A12E-C0FD-49B6-9175-08049700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0955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3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D50CC-F39C-4C2F-AE26-5DC08E8B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E3B35"/>
                </a:solidFill>
              </a:defRPr>
            </a:pPr>
            <a:r>
              <a:rPr sz="2100" b="1">
                <a:solidFill>
                  <a:srgbClr val="BE3B35"/>
                </a:solidFill>
              </a:rPr>
              <a:t>Test fails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98546-3C69-4F4F-B34B-688ACA2E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861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Gate blocks closure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F7239-1AB1-4AC4-9BC9-4F75B665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718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41BD6-C86F-4EC4-9BFD-3C792BD3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66950"/>
            <a:ext cx="20955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6B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F26F6-7AE6-4F7F-B65E-F7F5C6DF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717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86B00"/>
                </a:solidFill>
              </a:defRPr>
            </a:pPr>
            <a:r>
              <a:rPr sz="2100" b="1">
                <a:solidFill>
                  <a:srgbClr val="B86B00"/>
                </a:solidFill>
              </a:rPr>
              <a:t>Rework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78ACCA-2F3E-4FDF-8A6A-7CD0E235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861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Plan revised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DD990F-14B6-401E-A0A7-19DA3AD2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718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2A877B-BE7D-48C1-A38B-207F8722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66950"/>
            <a:ext cx="20955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64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2BCE9-980C-4D83-AFD5-164289B1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717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764D9"/>
                </a:solidFill>
              </a:defRPr>
            </a:pPr>
            <a:r>
              <a:rPr sz="2100" b="1">
                <a:solidFill>
                  <a:srgbClr val="2764D9"/>
                </a:solidFill>
              </a:rPr>
              <a:t>Rerun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7DC341-71C4-4241-AEC4-5F20F562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861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Systems revalidated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DBAAD3-6470-4111-8DC5-6B6130C7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718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EC2E06-A557-44DE-8348-22BB4024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66950"/>
            <a:ext cx="20955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7A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C66E4A-7F55-4DAC-B1CA-0621E5BF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717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7A43"/>
                </a:solidFill>
              </a:defRPr>
            </a:pPr>
            <a:r>
              <a:rPr sz="2100" b="1">
                <a:solidFill>
                  <a:srgbClr val="147A43"/>
                </a:solidFill>
              </a:rPr>
              <a:t>Pass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9E2CE4-52ED-4CD2-ADF0-69E98994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861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Certificate can close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86122E-04D8-4D89-BD65-E821164E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847F"/>
                </a:solidFill>
              </a:defRPr>
            </a:pPr>
            <a:r>
              <a:rPr sz="1950" b="1">
                <a:solidFill>
                  <a:srgbClr val="08847F"/>
                </a:solidFill>
              </a:rPr>
              <a:t>Local run includes an intentional failed gate; final case closes with reentryCount = 1 and verification = passed.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9BF537-E37C-4EB4-967D-C7EAD9BB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43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568376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CC8BD3-B10A-408A-BF0E-E5C568B8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847F"/>
                </a:solidFill>
              </a:defRPr>
            </a:pPr>
            <a:r>
              <a:rPr sz="1200" b="1">
                <a:solidFill>
                  <a:srgbClr val="08847F"/>
                </a:solidFill>
              </a:rPr>
              <a:t>RecallOS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17912-8D0D-490F-9835-77FCC0D2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Ready for cloud deployment and Devpost submission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526D1-7A22-4C6A-9A9C-29772120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UiPath AgentHack | Track 1: Maestro 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342CC-75EB-4F31-AD6D-1BFD2055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Submission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3D877-7183-4A17-885F-5F049378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1. Publish public GitHub repo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5C4D9-2D7D-44AB-AA19-5C10121A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2. Deploy Maestro Case in Automation Cloud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5408F-0EF3-4019-9E8E-1DDF4B0F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3. Configure Agent Builder prompts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19D6C-C50E-4F40-8432-61D41F94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4. Publish API Workflows and coded agents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2209B-135D-4293-9F1F-59D296FA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5. Record the under-5-minute demo video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B8E0A-EE40-446F-8C60-2B2D4704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6573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847F"/>
                </a:solidFill>
              </a:defRPr>
            </a:pPr>
            <a:r>
              <a:rPr sz="2250" b="1">
                <a:solidFill>
                  <a:srgbClr val="08847F"/>
                </a:solidFill>
              </a:rPr>
              <a:t>Product roadmap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6F6DF-E3B6-4FEF-96AA-059537D1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098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1. DBOM graph exploration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B7D89F-0D30-4944-8525-E9393E13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03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2. More recall domains: HR, grants, insurance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8A7593-127D-4625-8630-D82A23E6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909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3. Live enterprise connectors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E5C4F4-8E5A-4F82-9538-63F0877D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814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4. Stronger SLA escalation dashboards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910D2-D250-4DE5-9498-9F4A466D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720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5. Product feedback submission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91C512-DA50-4972-9D62-2958B6D8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RecallOS: audit-ready corrective action for AI decisions that already happened.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2A89FA-283B-4353-AD71-F23F2842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43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484140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2026-06-27T23:57:01.7490000Z</dcterms:created>
  <dcterms:modified xsi:type="dcterms:W3CDTF">2026-06-27T23:57:01.7490000Z</dcterms:modified>
</coreProperties>
</file>